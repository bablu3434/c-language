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lean_futuristic_tech_illustration_scen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216" y="777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Variables in Java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03504" y="18470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BFF"/>
                </a:solidFill>
              </a:rPr>
              <a:t>Clean, visual and exam-ready notes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03504" y="2331720"/>
            <a:ext cx="1234440" cy="0"/>
          </a:xfrm>
          <a:prstGeom prst="line">
            <a:avLst/>
          </a:prstGeom>
          <a:noFill/>
          <a:ln w="12700">
            <a:solidFill>
              <a:srgbClr val="FF9F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" y="2743200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9F4FF"/>
                </a:solidFill>
              </a:rPr>
              <a:t>A variable is a named storage location used to store data during program execution.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3504" y="3703320"/>
            <a:ext cx="914400" cy="329184"/>
          </a:xfrm>
          <a:prstGeom prst="roundRect">
            <a:avLst>
              <a:gd name="adj" fmla="val 44444"/>
            </a:avLst>
          </a:prstGeom>
          <a:solidFill>
            <a:srgbClr val="FF9F1C">
              <a:alpha val="96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3794760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Meaning</a:t>
            </a:r>
            <a:endParaRPr lang="en-US" sz="740" dirty="0"/>
          </a:p>
        </p:txBody>
      </p:sp>
      <p:sp>
        <p:nvSpPr>
          <p:cNvPr id="9" name="Shape 6"/>
          <p:cNvSpPr/>
          <p:nvPr/>
        </p:nvSpPr>
        <p:spPr>
          <a:xfrm>
            <a:off x="1682496" y="3703320"/>
            <a:ext cx="914400" cy="329184"/>
          </a:xfrm>
          <a:prstGeom prst="roundRect">
            <a:avLst>
              <a:gd name="adj" fmla="val 44444"/>
            </a:avLst>
          </a:prstGeom>
          <a:solidFill>
            <a:srgbClr val="0B63F6">
              <a:alpha val="96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37360" y="3794760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Syntax</a:t>
            </a:r>
            <a:endParaRPr lang="en-US" sz="740" dirty="0"/>
          </a:p>
        </p:txBody>
      </p:sp>
      <p:sp>
        <p:nvSpPr>
          <p:cNvPr id="11" name="Shape 8"/>
          <p:cNvSpPr/>
          <p:nvPr/>
        </p:nvSpPr>
        <p:spPr>
          <a:xfrm>
            <a:off x="2761488" y="3703320"/>
            <a:ext cx="914400" cy="329184"/>
          </a:xfrm>
          <a:prstGeom prst="roundRect">
            <a:avLst>
              <a:gd name="adj" fmla="val 44444"/>
            </a:avLst>
          </a:prstGeom>
          <a:solidFill>
            <a:srgbClr val="FF9F1C">
              <a:alpha val="96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16352" y="3794760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Data Types</a:t>
            </a:r>
            <a:endParaRPr lang="en-US" sz="740" dirty="0"/>
          </a:p>
        </p:txBody>
      </p:sp>
      <p:sp>
        <p:nvSpPr>
          <p:cNvPr id="13" name="Shape 10"/>
          <p:cNvSpPr/>
          <p:nvPr/>
        </p:nvSpPr>
        <p:spPr>
          <a:xfrm>
            <a:off x="3840480" y="3703320"/>
            <a:ext cx="914400" cy="329184"/>
          </a:xfrm>
          <a:prstGeom prst="roundRect">
            <a:avLst>
              <a:gd name="adj" fmla="val 44444"/>
            </a:avLst>
          </a:prstGeom>
          <a:solidFill>
            <a:srgbClr val="0B63F6">
              <a:alpha val="96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95344" y="3794760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Scope</a:t>
            </a:r>
            <a:endParaRPr lang="en-US" sz="740" dirty="0"/>
          </a:p>
        </p:txBody>
      </p:sp>
      <p:sp>
        <p:nvSpPr>
          <p:cNvPr id="15" name="Shape 12"/>
          <p:cNvSpPr/>
          <p:nvPr/>
        </p:nvSpPr>
        <p:spPr>
          <a:xfrm>
            <a:off x="4919472" y="3703320"/>
            <a:ext cx="914400" cy="329184"/>
          </a:xfrm>
          <a:prstGeom prst="roundRect">
            <a:avLst>
              <a:gd name="adj" fmla="val 44444"/>
            </a:avLst>
          </a:prstGeom>
          <a:solidFill>
            <a:srgbClr val="FF9F1C">
              <a:alpha val="96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74336" y="3794760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Examples</a:t>
            </a:r>
            <a:endParaRPr lang="en-US" sz="740" dirty="0"/>
          </a:p>
        </p:txBody>
      </p:sp>
      <p:sp>
        <p:nvSpPr>
          <p:cNvPr id="17" name="Text 14"/>
          <p:cNvSpPr/>
          <p:nvPr/>
        </p:nvSpPr>
        <p:spPr>
          <a:xfrm>
            <a:off x="475488" y="64648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CE8"/>
                </a:solidFill>
              </a:rPr>
              <a:t>Java Programming • Variables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8778240" y="64648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9CCE8"/>
                </a:solidFill>
              </a:rPr>
              <a:t>Neat &amp; Clean Presentation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odern_infographic_hero_banner_scene_clean_t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19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63F6"/>
                </a:solidFill>
              </a:rPr>
              <a:t>JAVA VARIABLES  •  02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5488" y="457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936"/>
                </a:solidFill>
              </a:rPr>
              <a:t>Presentation Roadmap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75488" y="822960"/>
            <a:ext cx="1005840" cy="0"/>
          </a:xfrm>
          <a:prstGeom prst="line">
            <a:avLst/>
          </a:prstGeom>
          <a:noFill/>
          <a:ln w="12700">
            <a:solidFill>
              <a:srgbClr val="FF9F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64648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16173"/>
                </a:solidFill>
              </a:rPr>
              <a:t>Java Programming • Variables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778240" y="64648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16173"/>
                </a:solidFill>
              </a:rPr>
              <a:t>Neat &amp; Clean Presentation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21792" y="10058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936"/>
                </a:solidFill>
              </a:rPr>
              <a:t>What you will learn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621792" y="1664208"/>
            <a:ext cx="5212080" cy="4343400"/>
          </a:xfrm>
          <a:prstGeom prst="roundRect">
            <a:avLst>
              <a:gd name="adj" fmla="val 294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BBD9FF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1911096"/>
            <a:ext cx="310896" cy="31089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6696" y="1988820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417320" y="19568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71936"/>
                </a:solidFill>
              </a:rPr>
              <a:t>What is a variable?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914400" y="2596896"/>
            <a:ext cx="310896" cy="310896"/>
          </a:xfrm>
          <a:prstGeom prst="ellipse">
            <a:avLst/>
          </a:prstGeom>
          <a:solidFill>
            <a:srgbClr val="0B63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6696" y="2674620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417320" y="26426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71936"/>
                </a:solidFill>
              </a:rPr>
              <a:t>Declaration &amp; initialization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914400" y="3282696"/>
            <a:ext cx="310896" cy="31089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96696" y="3360420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417320" y="33284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71936"/>
                </a:solidFill>
              </a:rPr>
              <a:t>Primitive and non-primitive data types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914400" y="3968496"/>
            <a:ext cx="310896" cy="310896"/>
          </a:xfrm>
          <a:prstGeom prst="ellipse">
            <a:avLst/>
          </a:prstGeom>
          <a:solidFill>
            <a:srgbClr val="0B63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96696" y="4046220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417320" y="40142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71936"/>
                </a:solidFill>
              </a:rPr>
              <a:t>Local, instance and static variables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914400" y="4654296"/>
            <a:ext cx="310896" cy="31089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96696" y="4732020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417320" y="47000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71936"/>
                </a:solidFill>
              </a:rPr>
              <a:t>Scope, constants and common mistakes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resolution_stylized_tech_education_illustr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19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44C7FF"/>
                </a:solidFill>
              </a:rPr>
              <a:t>JAVA VARIABLES  •  03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5488" y="457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Core Concept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75488" y="822960"/>
            <a:ext cx="1005840" cy="0"/>
          </a:xfrm>
          <a:prstGeom prst="line">
            <a:avLst/>
          </a:prstGeom>
          <a:noFill/>
          <a:ln w="12700">
            <a:solidFill>
              <a:srgbClr val="FF9F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64648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CE8"/>
                </a:solidFill>
              </a:rPr>
              <a:t>Java Programming • Variables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778240" y="64648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9CCE8"/>
                </a:solidFill>
              </a:rPr>
              <a:t>Neat &amp; Clean Presentation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30352" y="1207008"/>
            <a:ext cx="4892040" cy="4572000"/>
          </a:xfrm>
          <a:prstGeom prst="roundRect">
            <a:avLst>
              <a:gd name="adj" fmla="val 2800"/>
            </a:avLst>
          </a:prstGeom>
          <a:solidFill>
            <a:srgbClr val="061428">
              <a:alpha val="92000"/>
            </a:srgbClr>
          </a:solidFill>
          <a:ln w="12700">
            <a:solidFill>
              <a:srgbClr val="63D6FF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672" y="1481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What is a Variable?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822960" y="2148840"/>
            <a:ext cx="411480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 named memory location.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Stores one value at a time.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Value can be changed later.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Each variable has a data type.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4251960"/>
            <a:ext cx="4160520" cy="1078992"/>
          </a:xfrm>
          <a:prstGeom prst="roundRect">
            <a:avLst>
              <a:gd name="adj" fmla="val 7627"/>
            </a:avLst>
          </a:prstGeom>
          <a:solidFill>
            <a:srgbClr val="081222"/>
          </a:solidFill>
          <a:ln w="12700">
            <a:solidFill>
              <a:srgbClr val="314A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4379976"/>
            <a:ext cx="3867912" cy="8778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20;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 = "Raj";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passed = true;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modern_flat_3d_ish_vector_illustratio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19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63F6"/>
                </a:solidFill>
              </a:rPr>
              <a:t>JAVA VARIABLES  •  04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5488" y="457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936"/>
                </a:solidFill>
              </a:rPr>
              <a:t>Declaration Syntax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75488" y="822960"/>
            <a:ext cx="1005840" cy="0"/>
          </a:xfrm>
          <a:prstGeom prst="line">
            <a:avLst/>
          </a:prstGeom>
          <a:noFill/>
          <a:ln w="12700">
            <a:solidFill>
              <a:srgbClr val="FF9F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64648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16173"/>
                </a:solidFill>
              </a:rPr>
              <a:t>Java Programming • Variables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778240" y="64648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16173"/>
                </a:solidFill>
              </a:rPr>
              <a:t>Neat &amp; Clean Presentation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66928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71936"/>
                </a:solidFill>
              </a:rPr>
              <a:t>How to create a variable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621792" y="1627632"/>
            <a:ext cx="5303520" cy="4315968"/>
          </a:xfrm>
          <a:prstGeom prst="roundRect">
            <a:avLst>
              <a:gd name="adj" fmla="val 2966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BBD9FF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1936"/>
                </a:solidFill>
              </a:rPr>
              <a:t>Syntax Pattern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914400" y="2331720"/>
            <a:ext cx="4480560" cy="530352"/>
          </a:xfrm>
          <a:prstGeom prst="roundRect">
            <a:avLst>
              <a:gd name="adj" fmla="val 15517"/>
            </a:avLst>
          </a:prstGeom>
          <a:solidFill>
            <a:srgbClr val="081222"/>
          </a:solidFill>
          <a:ln w="12700">
            <a:solidFill>
              <a:srgbClr val="314A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459736"/>
            <a:ext cx="4187952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dataType variableName = value;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41832" y="3063240"/>
            <a:ext cx="1234440" cy="329184"/>
          </a:xfrm>
          <a:prstGeom prst="roundRect">
            <a:avLst>
              <a:gd name="adj" fmla="val 44444"/>
            </a:avLst>
          </a:prstGeom>
          <a:solidFill>
            <a:srgbClr val="FF9F1C">
              <a:alpha val="96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6696" y="3154680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dataType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2395728" y="3136392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173"/>
                </a:solidFill>
              </a:rPr>
              <a:t>type of value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41832" y="3593592"/>
            <a:ext cx="1234440" cy="329184"/>
          </a:xfrm>
          <a:prstGeom prst="roundRect">
            <a:avLst>
              <a:gd name="adj" fmla="val 44444"/>
            </a:avLst>
          </a:prstGeom>
          <a:solidFill>
            <a:srgbClr val="0B63F6">
              <a:alpha val="96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96696" y="3685032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variableName</a:t>
            </a:r>
            <a:endParaRPr lang="en-US" sz="740" dirty="0"/>
          </a:p>
        </p:txBody>
      </p:sp>
      <p:sp>
        <p:nvSpPr>
          <p:cNvPr id="18" name="Text 15"/>
          <p:cNvSpPr/>
          <p:nvPr/>
        </p:nvSpPr>
        <p:spPr>
          <a:xfrm>
            <a:off x="2395728" y="3666744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173"/>
                </a:solidFill>
              </a:rPr>
              <a:t>memory box name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41832" y="4123944"/>
            <a:ext cx="1234440" cy="329184"/>
          </a:xfrm>
          <a:prstGeom prst="roundRect">
            <a:avLst>
              <a:gd name="adj" fmla="val 44444"/>
            </a:avLst>
          </a:prstGeom>
          <a:solidFill>
            <a:srgbClr val="FF9F1C">
              <a:alpha val="96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96696" y="4215384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value</a:t>
            </a:r>
            <a:endParaRPr lang="en-US" sz="740" dirty="0"/>
          </a:p>
        </p:txBody>
      </p:sp>
      <p:sp>
        <p:nvSpPr>
          <p:cNvPr id="21" name="Text 18"/>
          <p:cNvSpPr/>
          <p:nvPr/>
        </p:nvSpPr>
        <p:spPr>
          <a:xfrm>
            <a:off x="2395728" y="4197096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173"/>
                </a:solidFill>
              </a:rPr>
              <a:t>data stored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41832" y="4654296"/>
            <a:ext cx="1234440" cy="329184"/>
          </a:xfrm>
          <a:prstGeom prst="roundRect">
            <a:avLst>
              <a:gd name="adj" fmla="val 44444"/>
            </a:avLst>
          </a:prstGeom>
          <a:solidFill>
            <a:srgbClr val="0B63F6">
              <a:alpha val="96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96696" y="4745736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;</a:t>
            </a:r>
            <a:endParaRPr lang="en-US" sz="740" dirty="0"/>
          </a:p>
        </p:txBody>
      </p:sp>
      <p:sp>
        <p:nvSpPr>
          <p:cNvPr id="24" name="Text 21"/>
          <p:cNvSpPr/>
          <p:nvPr/>
        </p:nvSpPr>
        <p:spPr>
          <a:xfrm>
            <a:off x="2395728" y="4727448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173"/>
                </a:solidFill>
              </a:rPr>
              <a:t>statement end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modern_3d_flat_styled_illustration_of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19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63F6"/>
                </a:solidFill>
              </a:rPr>
              <a:t>JAVA VARIABLES  •  05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5488" y="457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936"/>
                </a:solidFill>
              </a:rPr>
              <a:t>Data Types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75488" y="822960"/>
            <a:ext cx="1005840" cy="0"/>
          </a:xfrm>
          <a:prstGeom prst="line">
            <a:avLst/>
          </a:prstGeom>
          <a:noFill/>
          <a:ln w="12700">
            <a:solidFill>
              <a:srgbClr val="FF9F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64648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16173"/>
                </a:solidFill>
              </a:rPr>
              <a:t>Java Programming • Variables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778240" y="64648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16173"/>
                </a:solidFill>
              </a:rPr>
              <a:t>Neat &amp; Clean Presentation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66928" y="93268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71936"/>
                </a:solidFill>
              </a:rPr>
              <a:t>Choose the correct data type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603504" y="1600200"/>
            <a:ext cx="10972800" cy="4443984"/>
          </a:xfrm>
          <a:prstGeom prst="roundRect">
            <a:avLst>
              <a:gd name="adj" fmla="val 2881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BBD9FF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2057400"/>
            <a:ext cx="1810512" cy="2423160"/>
          </a:xfrm>
          <a:prstGeom prst="roundRect">
            <a:avLst>
              <a:gd name="adj" fmla="val 6566"/>
            </a:avLst>
          </a:prstGeom>
          <a:solidFill>
            <a:srgbClr val="FF9F1C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272" y="233172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33272" y="29718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Whole number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33272" y="37307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7FF"/>
                </a:solidFill>
              </a:rPr>
              <a:t>10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017520" y="2057400"/>
            <a:ext cx="1810512" cy="2423160"/>
          </a:xfrm>
          <a:prstGeom prst="roundRect">
            <a:avLst>
              <a:gd name="adj" fmla="val 6566"/>
            </a:avLst>
          </a:prstGeom>
          <a:solidFill>
            <a:srgbClr val="0B63F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54680" y="233172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double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154680" y="29718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Decimal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54680" y="37307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7FF"/>
                </a:solidFill>
              </a:rPr>
              <a:t>95.5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138928" y="2057400"/>
            <a:ext cx="1810512" cy="2423160"/>
          </a:xfrm>
          <a:prstGeom prst="roundRect">
            <a:avLst>
              <a:gd name="adj" fmla="val 6566"/>
            </a:avLst>
          </a:prstGeom>
          <a:solidFill>
            <a:srgbClr val="FF9F1C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76088" y="233172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char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276088" y="29718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One character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76088" y="37307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7FF"/>
                </a:solidFill>
              </a:rPr>
              <a:t>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260336" y="2057400"/>
            <a:ext cx="1810512" cy="2423160"/>
          </a:xfrm>
          <a:prstGeom prst="roundRect">
            <a:avLst>
              <a:gd name="adj" fmla="val 6566"/>
            </a:avLst>
          </a:prstGeom>
          <a:solidFill>
            <a:srgbClr val="0B63F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97496" y="233172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boolean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397496" y="29718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true / false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397496" y="37307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7FF"/>
                </a:solidFill>
              </a:rPr>
              <a:t>true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381744" y="2057400"/>
            <a:ext cx="1810512" cy="2423160"/>
          </a:xfrm>
          <a:prstGeom prst="roundRect">
            <a:avLst>
              <a:gd name="adj" fmla="val 6566"/>
            </a:avLst>
          </a:prstGeom>
          <a:solidFill>
            <a:srgbClr val="FF9F1C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518904" y="233172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String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9518904" y="29718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Text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518904" y="373075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7FF"/>
                </a:solidFill>
              </a:rPr>
              <a:t>"Hello"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14400" y="507492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936"/>
                </a:solidFill>
              </a:rPr>
              <a:t>Right data type = better memory use + fewer errors.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odern_infographic_hero_banner_scene_clean_t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19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63F6"/>
                </a:solidFill>
              </a:rPr>
              <a:t>JAVA VARIABLES  •  06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5488" y="457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936"/>
                </a:solidFill>
              </a:rPr>
              <a:t>Assignment &amp; Update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75488" y="822960"/>
            <a:ext cx="1005840" cy="0"/>
          </a:xfrm>
          <a:prstGeom prst="line">
            <a:avLst/>
          </a:prstGeom>
          <a:noFill/>
          <a:ln w="12700">
            <a:solidFill>
              <a:srgbClr val="FF9F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64648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16173"/>
                </a:solidFill>
              </a:rPr>
              <a:t>Java Programming • Variables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778240" y="64648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16173"/>
                </a:solidFill>
              </a:rPr>
              <a:t>Neat &amp; Clean Presentation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94360" y="9601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71936"/>
                </a:solidFill>
              </a:rPr>
              <a:t>Assigning and changing values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621792" y="1627632"/>
            <a:ext cx="5166360" cy="4407408"/>
          </a:xfrm>
          <a:prstGeom prst="roundRect">
            <a:avLst>
              <a:gd name="adj" fmla="val 290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BBD9FF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32688" y="2029968"/>
            <a:ext cx="41148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71936"/>
                </a:solidFill>
              </a:rPr>
              <a:t>Assignment stores a value in a variable.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71936"/>
                </a:solidFill>
              </a:rPr>
              <a:t>The same variable can get a new value.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071936"/>
                </a:solidFill>
              </a:rPr>
              <a:t>Java checks the value type before storing.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32688" y="3977640"/>
            <a:ext cx="43434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9BC7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4105656"/>
            <a:ext cx="4050792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719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score = 50;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9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719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score + 10;  // 90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vector_3d_styled_tech_education_illust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19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63F6"/>
                </a:solidFill>
              </a:rPr>
              <a:t>JAVA VARIABLES  •  07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5488" y="457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936"/>
                </a:solidFill>
              </a:rPr>
              <a:t>Naming Rules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75488" y="822960"/>
            <a:ext cx="1005840" cy="0"/>
          </a:xfrm>
          <a:prstGeom prst="line">
            <a:avLst/>
          </a:prstGeom>
          <a:noFill/>
          <a:ln w="12700">
            <a:solidFill>
              <a:srgbClr val="FF9F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64648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16173"/>
                </a:solidFill>
              </a:rPr>
              <a:t>Java Programming • Variables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778240" y="64648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16173"/>
                </a:solidFill>
              </a:rPr>
              <a:t>Neat &amp; Clean Presentation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66928" y="93268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71936"/>
                </a:solidFill>
              </a:rPr>
              <a:t>Rules for Variable Names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621792" y="1627632"/>
            <a:ext cx="5257800" cy="4370832"/>
          </a:xfrm>
          <a:prstGeom prst="roundRect">
            <a:avLst>
              <a:gd name="adj" fmla="val 2929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BBD9FF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32688" y="1938528"/>
            <a:ext cx="420624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071936"/>
                </a:solidFill>
              </a:rPr>
              <a:t>Start with letter, _ or $.
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071936"/>
                </a:solidFill>
              </a:rPr>
              <a:t>Do not start with a number.
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071936"/>
                </a:solidFill>
              </a:rPr>
              <a:t>No spaces or symbols like @, #, %.
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071936"/>
                </a:solidFill>
              </a:rPr>
              <a:t>Do not use Java keywords.
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071936"/>
                </a:solidFill>
              </a:rPr>
              <a:t>Names are case-sensitive.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932688" y="4663440"/>
            <a:ext cx="43434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C7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4791456"/>
            <a:ext cx="405079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719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Good: studentName, totalMarks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719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Bad: 2marks, total marks, class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infographic_style_illustration_o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19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B63F6"/>
                </a:solidFill>
              </a:rPr>
              <a:t>JAVA VARIABLES  •  08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5488" y="457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71936"/>
                </a:solidFill>
              </a:rPr>
              <a:t>Types of Variables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75488" y="822960"/>
            <a:ext cx="1005840" cy="0"/>
          </a:xfrm>
          <a:prstGeom prst="line">
            <a:avLst/>
          </a:prstGeom>
          <a:noFill/>
          <a:ln w="12700">
            <a:solidFill>
              <a:srgbClr val="FF9F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64648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16173"/>
                </a:solidFill>
              </a:rPr>
              <a:t>Java Programming • Variables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778240" y="64648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16173"/>
                </a:solidFill>
              </a:rPr>
              <a:t>Neat &amp; Clean Presentation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66928" y="93268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71936"/>
                </a:solidFill>
              </a:rPr>
              <a:t>Local vs Instance vs Static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603504" y="1609344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BBD9FF">
                <a:alpha val="8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2084832"/>
            <a:ext cx="2971800" cy="2651760"/>
          </a:xfrm>
          <a:prstGeom prst="roundRect">
            <a:avLst>
              <a:gd name="adj" fmla="val 4828"/>
            </a:avLst>
          </a:prstGeom>
          <a:solidFill>
            <a:srgbClr val="EAF6FF"/>
          </a:solidFill>
          <a:ln w="12700">
            <a:solidFill>
              <a:srgbClr val="0B63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3408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71936"/>
                </a:solidFill>
              </a:rPr>
              <a:t>Local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188720" y="2971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16173"/>
                </a:solidFill>
              </a:rPr>
              <a:t>Inside method/block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88720" y="37307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3F6"/>
                </a:solidFill>
              </a:rPr>
              <a:t>short life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80560" y="2084832"/>
            <a:ext cx="2971800" cy="2651760"/>
          </a:xfrm>
          <a:prstGeom prst="roundRect">
            <a:avLst>
              <a:gd name="adj" fmla="val 4828"/>
            </a:avLst>
          </a:prstGeom>
          <a:solidFill>
            <a:srgbClr val="FFF4E6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81728" y="23408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71936"/>
                </a:solidFill>
              </a:rPr>
              <a:t>Instance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4754880" y="2971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16173"/>
                </a:solidFill>
              </a:rPr>
              <a:t>Inside class, outside method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0" y="37307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F1C"/>
                </a:solidFill>
              </a:rPr>
              <a:t>object copy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46720" y="2084832"/>
            <a:ext cx="2971800" cy="2651760"/>
          </a:xfrm>
          <a:prstGeom prst="roundRect">
            <a:avLst>
              <a:gd name="adj" fmla="val 4828"/>
            </a:avLst>
          </a:prstGeom>
          <a:solidFill>
            <a:srgbClr val="ECFD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47888" y="23408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71936"/>
                </a:solidFill>
              </a:rPr>
              <a:t>Static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8321040" y="2971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16173"/>
                </a:solidFill>
              </a:rPr>
              <a:t>static keyword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321040" y="37307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shared copy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097280" y="5074920"/>
            <a:ext cx="9966960" cy="749808"/>
          </a:xfrm>
          <a:prstGeom prst="roundRect">
            <a:avLst>
              <a:gd name="adj" fmla="val 10976"/>
            </a:avLst>
          </a:prstGeom>
          <a:solidFill>
            <a:srgbClr val="081222"/>
          </a:solidFill>
          <a:ln w="12700">
            <a:solidFill>
              <a:srgbClr val="314A7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43584" y="5202936"/>
            <a:ext cx="9674352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name;          // instance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String school; // static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show(){ int age = 18; } // local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leek_high_tech_cinematic_3d_illustration_styl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19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44C7FF"/>
                </a:solidFill>
              </a:rPr>
              <a:t>JAVA VARIABLES  •  09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5488" y="457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Scope &amp; Lifetime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75488" y="822960"/>
            <a:ext cx="1005840" cy="0"/>
          </a:xfrm>
          <a:prstGeom prst="line">
            <a:avLst/>
          </a:prstGeom>
          <a:noFill/>
          <a:ln w="12700">
            <a:solidFill>
              <a:srgbClr val="FF9F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64648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CE8"/>
                </a:solidFill>
              </a:rPr>
              <a:t>Java Programming • Variables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778240" y="64648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9CCE8"/>
                </a:solidFill>
              </a:rPr>
              <a:t>Neat &amp; Clean Presentation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30352" y="1207008"/>
            <a:ext cx="4983480" cy="4572000"/>
          </a:xfrm>
          <a:prstGeom prst="roundRect">
            <a:avLst>
              <a:gd name="adj" fmla="val 2800"/>
            </a:avLst>
          </a:prstGeom>
          <a:solidFill>
            <a:srgbClr val="061428">
              <a:alpha val="92000"/>
            </a:srgbClr>
          </a:solidFill>
          <a:ln w="12700">
            <a:solidFill>
              <a:srgbClr val="63D6FF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672" y="1481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Scope and Lifetime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822960" y="2148840"/>
            <a:ext cx="420624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Scope means where a variable is accessible.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Local variables work only inside their block.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Instance variables live with the object.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Static variables live with the class.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4462272"/>
            <a:ext cx="4187952" cy="960120"/>
          </a:xfrm>
          <a:prstGeom prst="roundRect">
            <a:avLst>
              <a:gd name="adj" fmla="val 8571"/>
            </a:avLst>
          </a:prstGeom>
          <a:solidFill>
            <a:srgbClr val="081222"/>
          </a:solidFill>
          <a:ln w="12700">
            <a:solidFill>
              <a:srgbClr val="314A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4590288"/>
            <a:ext cx="3895344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(marks &gt;= 33)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result = "Pass";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 is not available outside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leek_high_detail_futuristic_3d_rendered_conc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19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44C7FF"/>
                </a:solidFill>
              </a:rPr>
              <a:t>JAVA VARIABLES  •  10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5488" y="457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Keyword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75488" y="822960"/>
            <a:ext cx="1005840" cy="0"/>
          </a:xfrm>
          <a:prstGeom prst="line">
            <a:avLst/>
          </a:prstGeom>
          <a:noFill/>
          <a:ln w="12700">
            <a:solidFill>
              <a:srgbClr val="FF9F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64648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CE8"/>
                </a:solidFill>
              </a:rPr>
              <a:t>Java Programming • Variables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778240" y="64648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9CCE8"/>
                </a:solidFill>
              </a:rPr>
              <a:t>Neat &amp; Clean Presentation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30352" y="1207008"/>
            <a:ext cx="4983480" cy="4572000"/>
          </a:xfrm>
          <a:prstGeom prst="roundRect">
            <a:avLst>
              <a:gd name="adj" fmla="val 2800"/>
            </a:avLst>
          </a:prstGeom>
          <a:solidFill>
            <a:srgbClr val="061428">
              <a:alpha val="92000"/>
            </a:srgbClr>
          </a:solidFill>
          <a:ln w="12700">
            <a:solidFill>
              <a:srgbClr val="63D6FF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672" y="1481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Constants using final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22960" y="208483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F4FF"/>
                </a:solidFill>
              </a:rPr>
              <a:t>Use final when the value should not change after initialization.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" y="2743200"/>
            <a:ext cx="4160520" cy="1325880"/>
          </a:xfrm>
          <a:prstGeom prst="roundRect">
            <a:avLst>
              <a:gd name="adj" fmla="val 6207"/>
            </a:avLst>
          </a:prstGeom>
          <a:solidFill>
            <a:srgbClr val="081222"/>
          </a:solidFill>
          <a:ln w="12700">
            <a:solidFill>
              <a:srgbClr val="314A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2871216"/>
            <a:ext cx="3867912" cy="11247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double PI = 3.14159;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int MAX_MARKS = 100;</a:t>
            </a:r>
            <a:endParaRPr lang="en-US" sz="1240" dirty="0"/>
          </a:p>
          <a:p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 = 3.14;  // not allowed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822960" y="4617720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</a:rPr>
              <a:t>Improves safety.
</a:t>
            </a:r>
            <a:endParaRPr lang="en-US" sz="1280" dirty="0"/>
          </a:p>
          <a:p>
            <a:pPr indent="0" marL="0">
              <a:buNone/>
            </a:pPr>
            <a:r>
              <a:rPr lang="en-US" sz="128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</a:rPr>
              <a:t>Makes fixed values clear.
</a:t>
            </a:r>
            <a:endParaRPr lang="en-US" sz="1280" dirty="0"/>
          </a:p>
          <a:p>
            <a:pPr indent="0" marL="0">
              <a:buNone/>
            </a:pPr>
            <a:r>
              <a:rPr lang="en-US" sz="128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</a:rPr>
              <a:t>Usually written in CAPITAL_LETTERS.</a:t>
            </a:r>
            <a:endParaRPr lang="en-US" sz="12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olorful_modern_3d_illustration_style_scen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19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44C7FF"/>
                </a:solidFill>
              </a:rPr>
              <a:t>JAVA VARIABLES  •  11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5488" y="457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Common Mistakes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75488" y="822960"/>
            <a:ext cx="1005840" cy="0"/>
          </a:xfrm>
          <a:prstGeom prst="line">
            <a:avLst/>
          </a:prstGeom>
          <a:noFill/>
          <a:ln w="12700">
            <a:solidFill>
              <a:srgbClr val="FF9F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64648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CE8"/>
                </a:solidFill>
              </a:rPr>
              <a:t>Java Programming • Variables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778240" y="64648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9CCE8"/>
                </a:solidFill>
              </a:rPr>
              <a:t>Neat &amp; Clean Presentation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6263640" y="1005840"/>
            <a:ext cx="5257800" cy="5166360"/>
          </a:xfrm>
          <a:prstGeom prst="roundRect">
            <a:avLst>
              <a:gd name="adj" fmla="val 2478"/>
            </a:avLst>
          </a:prstGeom>
          <a:solidFill>
            <a:srgbClr val="061428">
              <a:alpha val="92000"/>
            </a:srgbClr>
          </a:solidFill>
          <a:ln w="12700">
            <a:solidFill>
              <a:srgbClr val="63D6FF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0" y="1298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Avoid these mistakes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6583680" y="1965960"/>
            <a:ext cx="438912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440" dirty="0">
                <a:solidFill>
                  <a:srgbClr val="FFFFFF"/>
                </a:solidFill>
              </a:rPr>
              <a:t>Using a variable before declaring it.
</a:t>
            </a:r>
            <a:endParaRPr lang="en-US" sz="1440" dirty="0"/>
          </a:p>
          <a:p>
            <a:pPr indent="0" marL="0">
              <a:buNone/>
            </a:pPr>
            <a:r>
              <a:rPr lang="en-US" sz="144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440" dirty="0">
                <a:solidFill>
                  <a:srgbClr val="FFFFFF"/>
                </a:solidFill>
              </a:rPr>
              <a:t>Assigning the wrong type of value.
</a:t>
            </a:r>
            <a:endParaRPr lang="en-US" sz="1440" dirty="0"/>
          </a:p>
          <a:p>
            <a:pPr indent="0" marL="0">
              <a:buNone/>
            </a:pPr>
            <a:r>
              <a:rPr lang="en-US" sz="144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440" dirty="0">
                <a:solidFill>
                  <a:srgbClr val="FFFFFF"/>
                </a:solidFill>
              </a:rPr>
              <a:t>Forgetting semicolon at the end.
</a:t>
            </a:r>
            <a:endParaRPr lang="en-US" sz="1440" dirty="0"/>
          </a:p>
          <a:p>
            <a:pPr indent="0" marL="0">
              <a:buNone/>
            </a:pPr>
            <a:r>
              <a:rPr lang="en-US" sz="144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440" dirty="0">
                <a:solidFill>
                  <a:srgbClr val="FFFFFF"/>
                </a:solidFill>
              </a:rPr>
              <a:t>Using unclear names like a, b, x1.
</a:t>
            </a:r>
            <a:endParaRPr lang="en-US" sz="1440" dirty="0"/>
          </a:p>
          <a:p>
            <a:pPr indent="0" marL="0">
              <a:buNone/>
            </a:pPr>
            <a:r>
              <a:rPr lang="en-US" sz="144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440" dirty="0">
                <a:solidFill>
                  <a:srgbClr val="FFFFFF"/>
                </a:solidFill>
              </a:rPr>
              <a:t>Trying to change a final variable.</a:t>
            </a:r>
            <a:endParaRPr lang="en-US" sz="1440" dirty="0"/>
          </a:p>
        </p:txBody>
      </p:sp>
      <p:sp>
        <p:nvSpPr>
          <p:cNvPr id="11" name="Shape 8"/>
          <p:cNvSpPr/>
          <p:nvPr/>
        </p:nvSpPr>
        <p:spPr>
          <a:xfrm>
            <a:off x="6583680" y="4709160"/>
            <a:ext cx="4343400" cy="658368"/>
          </a:xfrm>
          <a:prstGeom prst="roundRect">
            <a:avLst>
              <a:gd name="adj" fmla="val 12500"/>
            </a:avLst>
          </a:prstGeom>
          <a:solidFill>
            <a:srgbClr val="081222"/>
          </a:solidFill>
          <a:ln w="12700">
            <a:solidFill>
              <a:srgbClr val="314A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9984" y="4837176"/>
            <a:ext cx="405079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"twenty";  // wrong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20;        // correct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lean_futuristic_tech_illustration_scene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219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44C7FF"/>
                </a:solidFill>
              </a:rPr>
              <a:t>JAVA VARIABLES  •  12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5488" y="457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Recap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75488" y="822960"/>
            <a:ext cx="1005840" cy="0"/>
          </a:xfrm>
          <a:prstGeom prst="line">
            <a:avLst/>
          </a:prstGeom>
          <a:noFill/>
          <a:ln w="12700">
            <a:solidFill>
              <a:srgbClr val="FF9F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1143000"/>
            <a:ext cx="6565392" cy="4681728"/>
          </a:xfrm>
          <a:prstGeom prst="roundRect">
            <a:avLst>
              <a:gd name="adj" fmla="val 2734"/>
            </a:avLst>
          </a:prstGeom>
          <a:solidFill>
            <a:srgbClr val="061428">
              <a:alpha val="92000"/>
            </a:srgbClr>
          </a:solidFill>
          <a:ln w="12700">
            <a:solidFill>
              <a:srgbClr val="63D6FF">
                <a:alpha val="5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44475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Recap + Mini Practice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41248" y="2103120"/>
            <a:ext cx="539496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</a:rPr>
              <a:t>Variable = named box to store data.
</a:t>
            </a:r>
            <a:endParaRPr lang="en-US" sz="1520" dirty="0"/>
          </a:p>
          <a:p>
            <a:pPr indent="0" marL="0">
              <a:buNone/>
            </a:pPr>
            <a:r>
              <a:rPr lang="en-US" sz="152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</a:rPr>
              <a:t>Declaration pattern: dataType name = value;
</a:t>
            </a:r>
            <a:endParaRPr lang="en-US" sz="1520" dirty="0"/>
          </a:p>
          <a:p>
            <a:pPr indent="0" marL="0">
              <a:buNone/>
            </a:pPr>
            <a:r>
              <a:rPr lang="en-US" sz="152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</a:rPr>
              <a:t>Choose the correct data type.
</a:t>
            </a:r>
            <a:endParaRPr lang="en-US" sz="1520" dirty="0"/>
          </a:p>
          <a:p>
            <a:pPr indent="0" marL="0">
              <a:buNone/>
            </a:pPr>
            <a:r>
              <a:rPr lang="en-US" sz="152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</a:rPr>
              <a:t>Use meaningful names and proper scope.
</a:t>
            </a:r>
            <a:endParaRPr lang="en-US" sz="1520" dirty="0"/>
          </a:p>
          <a:p>
            <a:pPr indent="0" marL="0">
              <a:buNone/>
            </a:pPr>
            <a:r>
              <a:rPr lang="en-US" sz="1520" b="1" dirty="0">
                <a:solidFill>
                  <a:srgbClr val="FF9F1C"/>
                </a:solidFill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</a:rPr>
              <a:t>Use final for values that never change.</a:t>
            </a:r>
            <a:endParaRPr lang="en-US" sz="1520" dirty="0"/>
          </a:p>
        </p:txBody>
      </p:sp>
      <p:sp>
        <p:nvSpPr>
          <p:cNvPr id="9" name="Shape 6"/>
          <p:cNvSpPr/>
          <p:nvPr/>
        </p:nvSpPr>
        <p:spPr>
          <a:xfrm>
            <a:off x="841248" y="4681728"/>
            <a:ext cx="5394960" cy="731520"/>
          </a:xfrm>
          <a:prstGeom prst="roundRect">
            <a:avLst>
              <a:gd name="adj" fmla="val 11250"/>
            </a:avLst>
          </a:prstGeom>
          <a:solidFill>
            <a:srgbClr val="081222"/>
          </a:solidFill>
          <a:ln w="12700">
            <a:solidFill>
              <a:srgbClr val="314A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4809744"/>
            <a:ext cx="510235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Practice Task: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variables for name, age, marks, grade, and pass status.</a:t>
            </a:r>
            <a:endParaRPr lang="en-US" sz="1170" dirty="0"/>
          </a:p>
        </p:txBody>
      </p:sp>
      <p:sp>
        <p:nvSpPr>
          <p:cNvPr id="11" name="Text 8"/>
          <p:cNvSpPr/>
          <p:nvPr/>
        </p:nvSpPr>
        <p:spPr>
          <a:xfrm>
            <a:off x="7635240" y="5349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Thank You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75488" y="64648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CE8"/>
                </a:solidFill>
              </a:rPr>
              <a:t>Java Programming • Variables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778240" y="64648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9CCE8"/>
                </a:solidFill>
              </a:rPr>
              <a:t>Neat &amp; Clean Presentation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 in Java Programming - Improved</dc:title>
  <dc:subject>Java Programming - Variables</dc:subject>
  <dc:creator>OpenAI</dc:creator>
  <cp:lastModifiedBy>OpenAI</cp:lastModifiedBy>
  <cp:revision>1</cp:revision>
  <dcterms:created xsi:type="dcterms:W3CDTF">2026-09-18T05:14:12Z</dcterms:created>
  <dcterms:modified xsi:type="dcterms:W3CDTF">2026-09-18T05:14:12Z</dcterms:modified>
</cp:coreProperties>
</file>